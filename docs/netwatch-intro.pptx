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定位:进程级上传监控仪表盘。只观测行为元数据,不看内容、不拦流量。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四个问题对应三个视图加一套告警,是全片的章节结构。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能力边界是设计决定:不做 MITM,不做拦截,只做观测与告警。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截图来自 mock 数据源的真实运行。backup-agent 的 NEW 徽标即新目的地首传。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权限分离:root 进程零网络暴露,实时快照走库里的 live_snapshot 行,Web 轮询后经 SSE 推浏览器。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选型依据是 Phase 0 的 5.5 分钟真实采样(2348 行 nethogs + 6650 行 ss)。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两跳关联是本机走 clash/mihomo 类代理时的正确性关键,Phase 5 已实现并有测试。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阈值走 JSON 配置(~/.config/netwatch/rules.json),Web 端写、采集端读,SIGHUP 热重载。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隐私自洽是硬红线:GeoIP 禁止在线查询(design.md §9)。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诚实口径:开发中项目,root 实机验收未完成。macOS / Windows 是计划而非承诺。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收尾:mock 体验无需 root;真实采集需要 root。项目地址见 README。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24528" y="2084832"/>
            <a:ext cx="274320" cy="274320"/>
          </a:xfrm>
          <a:prstGeom prst="ellipse">
            <a:avLst/>
          </a:prstGeom>
          <a:solidFill>
            <a:srgbClr val="F5B04C"/>
          </a:solidFill>
          <a:ln/>
        </p:spPr>
      </p:sp>
      <p:sp>
        <p:nvSpPr>
          <p:cNvPr id="3" name="Text 1"/>
          <p:cNvSpPr/>
          <p:nvPr/>
        </p:nvSpPr>
        <p:spPr>
          <a:xfrm>
            <a:off x="4617720" y="1664208"/>
            <a:ext cx="5669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netwatch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4279392" y="3063240"/>
            <a:ext cx="7406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pc="200" kern="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看什么程序在偷偷上传、传给谁、传了多少。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315968" y="3977640"/>
            <a:ext cx="1335024" cy="420624"/>
          </a:xfrm>
          <a:prstGeom prst="roundRect">
            <a:avLst>
              <a:gd name="adj" fmla="val 50000"/>
            </a:avLst>
          </a:prstGeom>
          <a:solidFill>
            <a:srgbClr val="0B0E14"/>
          </a:solidFill>
          <a:ln w="12700">
            <a:solidFill>
              <a:srgbClr val="232C3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315968" y="3977640"/>
            <a:ext cx="13350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进程级归因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797296" y="3977640"/>
            <a:ext cx="1335024" cy="420624"/>
          </a:xfrm>
          <a:prstGeom prst="roundRect">
            <a:avLst>
              <a:gd name="adj" fmla="val 50000"/>
            </a:avLst>
          </a:prstGeom>
          <a:solidFill>
            <a:srgbClr val="0B0E14"/>
          </a:solidFill>
          <a:ln w="12700">
            <a:solidFill>
              <a:srgbClr val="232C3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97296" y="3977640"/>
            <a:ext cx="13350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实时仪表盘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278624" y="3977640"/>
            <a:ext cx="1335024" cy="420624"/>
          </a:xfrm>
          <a:prstGeom prst="roundRect">
            <a:avLst>
              <a:gd name="adj" fmla="val 50000"/>
            </a:avLst>
          </a:prstGeom>
          <a:solidFill>
            <a:srgbClr val="0B0E14"/>
          </a:solidFill>
          <a:ln w="12700">
            <a:solidFill>
              <a:srgbClr val="232C3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278624" y="3977640"/>
            <a:ext cx="13350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异常告警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759952" y="3977640"/>
            <a:ext cx="1335024" cy="420624"/>
          </a:xfrm>
          <a:prstGeom prst="roundRect">
            <a:avLst>
              <a:gd name="adj" fmla="val 50000"/>
            </a:avLst>
          </a:prstGeom>
          <a:solidFill>
            <a:srgbClr val="0B0E14"/>
          </a:solidFill>
          <a:ln w="12700">
            <a:solidFill>
              <a:srgbClr val="232C3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59952" y="3977640"/>
            <a:ext cx="13350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只读元数据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315968" y="4892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4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进程级上传监控仪表盘 · 本机常驻采集 + Web 实时查看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629107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94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开发中 · Linux 首发 · 2026-10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18872" cy="118872"/>
          </a:xfrm>
          <a:prstGeom prst="ellipse">
            <a:avLst/>
          </a:prstGeom>
          <a:solidFill>
            <a:srgbClr val="F5B04C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27432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netwatch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2194560" y="274320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WHY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1000232" y="638251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943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11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868680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它回答四个问题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B0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1783080" y="1837944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现在谁在传?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5532120" y="1892808"/>
            <a:ext cx="6217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实时视图:每个进程 → 每个远端地址的上传速率,SSE 秒级推送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1783080" y="2752344"/>
            <a:ext cx="9966960" cy="0"/>
          </a:xfrm>
          <a:prstGeom prst="line">
            <a:avLst/>
          </a:prstGeom>
          <a:noFill/>
          <a:ln w="12700">
            <a:solidFill>
              <a:srgbClr val="232C3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2953512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B0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1783080" y="3008376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它传给谁?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5532120" y="3063240"/>
            <a:ext cx="6217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IP → 域名 → 归属地 / ASN / 服务分类,一眼判断“该不该传”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1783080" y="3922776"/>
            <a:ext cx="9966960" cy="0"/>
          </a:xfrm>
          <a:prstGeom prst="line">
            <a:avLst/>
          </a:prstGeom>
          <a:noFill/>
          <a:ln w="12700">
            <a:solidFill>
              <a:srgbClr val="232C3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4123944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B0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1783080" y="417880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它传了多少?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5532120" y="4233672"/>
            <a:ext cx="6217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分钟粒度聚合落库,1h / 24h / 7d 按进程、目的地双维度回看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1783080" y="5093208"/>
            <a:ext cx="9966960" cy="0"/>
          </a:xfrm>
          <a:prstGeom prst="line">
            <a:avLst/>
          </a:prstGeom>
          <a:noFill/>
          <a:ln w="12700">
            <a:solidFill>
              <a:srgbClr val="232C3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5294376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B0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1783080" y="534924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什么在偷偷传?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5532120" y="5404104"/>
            <a:ext cx="6217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新目的地首传、超阈值大流量、归因失败外传,三条规则自动告警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18872" cy="118872"/>
          </a:xfrm>
          <a:prstGeom prst="ellipse">
            <a:avLst/>
          </a:prstGeom>
          <a:solidFill>
            <a:srgbClr val="F5B04C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27432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netwatch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2194560" y="274320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POSITIONING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1000232" y="638251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943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/ 11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868680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只观测,不干预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1572768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检测靠行为元数据 —— </a:t>
            </a:r>
            <a:pPr indent="0" marL="0">
              <a:buNone/>
            </a:pPr>
            <a:r>
              <a:rPr lang="en-US" sz="2400" b="1" dirty="0">
                <a:solidFill>
                  <a:srgbClr val="F5B04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谁 · 何时 · 何地 · 多少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457200" y="2514600"/>
            <a:ext cx="5440680" cy="3246120"/>
          </a:xfrm>
          <a:prstGeom prst="roundRect">
            <a:avLst>
              <a:gd name="adj" fmla="val 2254"/>
            </a:avLst>
          </a:prstGeom>
          <a:solidFill>
            <a:srgbClr val="141A26"/>
          </a:solidFill>
          <a:ln w="12700">
            <a:solidFill>
              <a:srgbClr val="232C3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309360" y="2514600"/>
            <a:ext cx="5440680" cy="3246120"/>
          </a:xfrm>
          <a:prstGeom prst="roundRect">
            <a:avLst>
              <a:gd name="adj" fmla="val 2254"/>
            </a:avLst>
          </a:prstGeom>
          <a:solidFill>
            <a:srgbClr val="141A26"/>
          </a:solidFill>
          <a:ln w="12700">
            <a:solidFill>
              <a:srgbClr val="232C3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68680" y="27432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B04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720840" y="27432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不做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896112" y="3392424"/>
            <a:ext cx="82296" cy="82296"/>
          </a:xfrm>
          <a:prstGeom prst="ellipse">
            <a:avLst/>
          </a:prstGeom>
          <a:solidFill>
            <a:srgbClr val="F5B04C"/>
          </a:solidFill>
          <a:ln/>
        </p:spPr>
      </p:sp>
      <p:sp>
        <p:nvSpPr>
          <p:cNvPr id="13" name="Text 11"/>
          <p:cNvSpPr/>
          <p:nvPr/>
        </p:nvSpPr>
        <p:spPr>
          <a:xfrm>
            <a:off x="1143000" y="331012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进程级流量归因  </a:t>
            </a:r>
            <a:pPr indent="0" marL="0">
              <a:buNone/>
            </a:pPr>
            <a:r>
              <a:rPr lang="en-US" sz="145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流量归到「进程 × 目的地」两级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896112" y="3995928"/>
            <a:ext cx="82296" cy="82296"/>
          </a:xfrm>
          <a:prstGeom prst="ellipse">
            <a:avLst/>
          </a:prstGeom>
          <a:solidFill>
            <a:srgbClr val="F5B04C"/>
          </a:solidFill>
          <a:ln/>
        </p:spPr>
      </p:sp>
      <p:sp>
        <p:nvSpPr>
          <p:cNvPr id="15" name="Text 13"/>
          <p:cNvSpPr/>
          <p:nvPr/>
        </p:nvSpPr>
        <p:spPr>
          <a:xfrm>
            <a:off x="1143000" y="391363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目的地富化  </a:t>
            </a:r>
            <a:pPr indent="0" marL="0">
              <a:buNone/>
            </a:pPr>
            <a:r>
              <a:rPr lang="en-US" sz="145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域名 / 归属地 / ASN / 服务分类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896112" y="4599432"/>
            <a:ext cx="82296" cy="82296"/>
          </a:xfrm>
          <a:prstGeom prst="ellipse">
            <a:avLst/>
          </a:prstGeom>
          <a:solidFill>
            <a:srgbClr val="F5B04C"/>
          </a:solidFill>
          <a:ln/>
        </p:spPr>
      </p:sp>
      <p:sp>
        <p:nvSpPr>
          <p:cNvPr id="17" name="Text 15"/>
          <p:cNvSpPr/>
          <p:nvPr/>
        </p:nvSpPr>
        <p:spPr>
          <a:xfrm>
            <a:off x="1143000" y="4517136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行为异常告警  </a:t>
            </a:r>
            <a:pPr indent="0" marL="0">
              <a:buNone/>
            </a:pPr>
            <a:r>
              <a:rPr lang="en-US" sz="145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新目的地 · 超阈值 · 归因失败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896112" y="5202936"/>
            <a:ext cx="82296" cy="82296"/>
          </a:xfrm>
          <a:prstGeom prst="ellipse">
            <a:avLst/>
          </a:prstGeom>
          <a:solidFill>
            <a:srgbClr val="F5B04C"/>
          </a:solidFill>
          <a:ln/>
        </p:spPr>
      </p:sp>
      <p:sp>
        <p:nvSpPr>
          <p:cNvPr id="19" name="Text 17"/>
          <p:cNvSpPr/>
          <p:nvPr/>
        </p:nvSpPr>
        <p:spPr>
          <a:xfrm>
            <a:off x="1143000" y="51206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历史回看与查询  </a:t>
            </a:r>
            <a:pPr indent="0" marL="0">
              <a:buNone/>
            </a:pPr>
            <a:r>
              <a:rPr lang="en-US" sz="145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分钟粒度 90 天,CLI 与 Web 双入口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6748272" y="3438144"/>
            <a:ext cx="164592" cy="0"/>
          </a:xfrm>
          <a:prstGeom prst="line">
            <a:avLst/>
          </a:prstGeom>
          <a:noFill/>
          <a:ln w="25400">
            <a:solidFill>
              <a:srgbClr val="39435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22592" y="331012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内容审计与 MITM 解密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6748272" y="4041648"/>
            <a:ext cx="164592" cy="0"/>
          </a:xfrm>
          <a:prstGeom prst="line">
            <a:avLst/>
          </a:prstGeom>
          <a:noFill/>
          <a:ln w="25400">
            <a:solidFill>
              <a:srgbClr val="39435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22592" y="391363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防火墙与拦截(opensnitch 的领域)</a:t>
            </a:r>
            <a:endParaRPr lang="en-US" sz="1450" dirty="0"/>
          </a:p>
        </p:txBody>
      </p:sp>
      <p:sp>
        <p:nvSpPr>
          <p:cNvPr id="24" name="Shape 22"/>
          <p:cNvSpPr/>
          <p:nvPr/>
        </p:nvSpPr>
        <p:spPr>
          <a:xfrm>
            <a:off x="6748272" y="4645152"/>
            <a:ext cx="164592" cy="0"/>
          </a:xfrm>
          <a:prstGeom prst="line">
            <a:avLst/>
          </a:prstGeom>
          <a:noFill/>
          <a:ln w="25400">
            <a:solidFill>
              <a:srgbClr val="39435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22592" y="451713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跨主机 / 集群监控(只看本机)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457200" y="598932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394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发现问题的手段是“看得见”,不是“管得住”。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18872" cy="118872"/>
          </a:xfrm>
          <a:prstGeom prst="ellipse">
            <a:avLst/>
          </a:prstGeom>
          <a:solidFill>
            <a:srgbClr val="F5B04C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27432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netwatch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2194560" y="274320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LIVE VIEW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1000232" y="638251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943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/ 11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868680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实时视图 · 现在谁在传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182880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B04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进程卡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57200" y="224028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每个在传数据的进程一张卡,展开是目的地明细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7200" y="306324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B04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徽标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57200" y="347472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局域网 / 本地(代理)/ NEW 首见 / 归因失败,状态一眼可读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29768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B04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顶栏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57200" y="470916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全局上下行速率 + 未读告警,SSE 秒级推送,断线自动重连</a:t>
            </a:r>
            <a:endParaRPr lang="en-US" sz="1350" dirty="0"/>
          </a:p>
        </p:txBody>
      </p:sp>
      <p:pic>
        <p:nvPicPr>
          <p:cNvPr id="13" name="Image 0" descr="/tmp/vidbuild/frames/live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43400" y="1691640"/>
            <a:ext cx="7388352" cy="4155948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pic>
      <p:sp>
        <p:nvSpPr>
          <p:cNvPr id="14" name="Text 11"/>
          <p:cNvSpPr/>
          <p:nvPr/>
        </p:nvSpPr>
        <p:spPr>
          <a:xfrm>
            <a:off x="4343400" y="5989320"/>
            <a:ext cx="7388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94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mock 数据源 · 真实界面(环回代理两跳形态:chrome → 127.0.0.1:7897 → mihomo → 公网)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18872" cy="118872"/>
          </a:xfrm>
          <a:prstGeom prst="ellipse">
            <a:avLst/>
          </a:prstGeom>
          <a:solidFill>
            <a:srgbClr val="F5B04C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27432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netwatch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2194560" y="274320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ARCHITECTURE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1000232" y="638251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943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/ 11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868680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两个进程,一个库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02920" y="1737360"/>
            <a:ext cx="4297680" cy="3291840"/>
          </a:xfrm>
          <a:prstGeom prst="roundRect">
            <a:avLst>
              <a:gd name="adj" fmla="val 2222"/>
            </a:avLst>
          </a:prstGeom>
          <a:solidFill>
            <a:srgbClr val="141A26"/>
          </a:solidFill>
          <a:ln w="12700">
            <a:solidFill>
              <a:srgbClr val="232C3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8680" y="19659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5B04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采集进程</a:t>
            </a:r>
            <a:pPr indent="0" marL="0">
              <a:buNone/>
            </a:pPr>
            <a:r>
              <a:rPr lang="en-US" sz="130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需 root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868680" y="25603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ss 轮询 → 行解析 → 事件流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68680" y="312724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富化器(域名 / 代理两跳)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868680" y="369417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聚合器(分钟桶)→ 落库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868680" y="4261104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规则引擎 → 桌面 / webhook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7406640" y="1737360"/>
            <a:ext cx="4297680" cy="3291840"/>
          </a:xfrm>
          <a:prstGeom prst="roundRect">
            <a:avLst>
              <a:gd name="adj" fmla="val 2222"/>
            </a:avLst>
          </a:prstGeom>
          <a:solidFill>
            <a:srgbClr val="141A26"/>
          </a:solidFill>
          <a:ln w="12700">
            <a:solidFill>
              <a:srgbClr val="232C3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772400" y="19659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AA7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展示进程</a:t>
            </a:r>
            <a:pPr indent="0" marL="0">
              <a:buNone/>
            </a:pPr>
            <a:r>
              <a:rPr lang="en-US" sz="130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普通用户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7772400" y="25603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Hono API(REST + SSE)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7772400" y="312724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React 仪表盘 · 三视图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7772400" y="369417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只读打开数据库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7772400" y="4261104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规则配置 · 白名单管理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5742432" y="201168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94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▼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5230368" y="2514600"/>
            <a:ext cx="1737360" cy="1234440"/>
          </a:xfrm>
          <a:prstGeom prst="roundRect">
            <a:avLst>
              <a:gd name="adj" fmla="val 5926"/>
            </a:avLst>
          </a:prstGeom>
          <a:solidFill>
            <a:srgbClr val="1A2130"/>
          </a:solidFill>
          <a:ln w="19050">
            <a:solidFill>
              <a:srgbClr val="F5B04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230368" y="2514600"/>
            <a:ext cx="1737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SQLite
</a:t>
            </a:r>
            <a:pPr algn="ctr" indent="0" marL="0">
              <a:buNone/>
            </a:pPr>
            <a:r>
              <a:rPr lang="en-US" sz="115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WAL · 唯一耦合点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5742432" y="384048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94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▲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457200" y="548640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采集端不开任何网络端口</a:t>
            </a:r>
            <a:pPr algn="ctr" indent="0" marL="0">
              <a:buNone/>
            </a:pPr>
            <a:r>
              <a:rPr lang="en-US" sz="1400" dirty="0">
                <a:solidFill>
                  <a:srgbClr val="394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 ·    </a:t>
            </a:r>
            <a:pPr algn="ctr" indent="0" marL="0">
              <a:buNone/>
            </a:pPr>
            <a:r>
              <a:rPr lang="en-US" sz="140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明细保留 90 天自动清理</a:t>
            </a:r>
            <a:pPr algn="ctr" indent="0" marL="0">
              <a:buNone/>
            </a:pPr>
            <a:r>
              <a:rPr lang="en-US" sz="1400" dirty="0">
                <a:solidFill>
                  <a:srgbClr val="394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 ·    </a:t>
            </a:r>
            <a:pPr algn="ctr" indent="0" marL="0">
              <a:buNone/>
            </a:pPr>
            <a:r>
              <a:rPr lang="en-US" sz="140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采集崩了不影响看历史,展示重启不丢数据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18872" cy="118872"/>
          </a:xfrm>
          <a:prstGeom prst="ellipse">
            <a:avLst/>
          </a:prstGeom>
          <a:solidFill>
            <a:srgbClr val="F5B04C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27432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netwatch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2194560" y="274320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COLLECTION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1000232" y="638251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943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/ 11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868680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采集:为什么是 ss 轮询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182880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B04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Phase 0 实证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57200" y="2249424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nethogs -t 输出的是每进程聚合,没有远端地址列 —— 撑不起“传给谁”,原方案被真实样本推翻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7200" y="3127248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B04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ss 的答案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57200" y="3547872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每条连接自带远端地址、进程归属和累计字节;相邻两拍做差即增量,零抓包、零 pcap 依赖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425696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B04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nethogs 没有缺席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57200" y="484632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降级为交叉验证 / 无目的地降级源,与 ss 同一 TrafficSource 契约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126480" y="1737360"/>
            <a:ext cx="5577840" cy="2395728"/>
          </a:xfrm>
          <a:prstGeom prst="roundRect">
            <a:avLst>
              <a:gd name="adj" fmla="val 3053"/>
            </a:avLst>
          </a:prstGeom>
          <a:solidFill>
            <a:srgbClr val="0F141F"/>
          </a:solidFill>
          <a:ln w="12700">
            <a:solidFill>
              <a:srgbClr val="232C3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46520" y="1993392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5B0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ss -tinp state established
</a:t>
            </a:r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Peer Address:Port   104.20.23.154:443
</a:t>
            </a:r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users:(("mihomo",pid=777,fd=48))
</a:t>
            </a:r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5AA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bytes_sent:2097152  bytes_received:838860
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126480" y="4370832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真实输出字段(节选):远端地址 + 进程归属 + 每连接累计字节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5806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已知局限:</a:t>
            </a:r>
            <a:pPr indent="0" marL="0">
              <a:buNone/>
            </a:pPr>
            <a:r>
              <a:rPr lang="en-US" sz="135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两次轮询之间建立又关闭的短连接会漏;UDP 无字节计数 —— eBPF 精确统计为后续进阶路线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18872" cy="118872"/>
          </a:xfrm>
          <a:prstGeom prst="ellipse">
            <a:avLst/>
          </a:prstGeom>
          <a:solidFill>
            <a:srgbClr val="F5B04C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27432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netwatch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2194560" y="274320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ENRICHMENT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1000232" y="638251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943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/ 11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868680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富化:把 IP 翻译成人话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5943600" cy="1115568"/>
          </a:xfrm>
          <a:prstGeom prst="roundRect">
            <a:avLst>
              <a:gd name="adj" fmla="val 6557"/>
            </a:avLst>
          </a:prstGeom>
          <a:solidFill>
            <a:srgbClr val="141A26"/>
          </a:solidFill>
          <a:ln w="12700">
            <a:solidFill>
              <a:srgbClr val="232C3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1929384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反向 DNS   </a:t>
            </a:r>
            <a:pPr indent="0" marL="0">
              <a:buNone/>
            </a:pPr>
            <a:r>
              <a:rPr lang="en-US" sz="1200" dirty="0">
                <a:solidFill>
                  <a:srgbClr val="F5B04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已实现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2331720"/>
            <a:ext cx="5257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3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108.177.10.99 → oy-in-f99.1e100.net(本机发起,正/负缓存 6h)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3081528"/>
            <a:ext cx="5943600" cy="1115568"/>
          </a:xfrm>
          <a:prstGeom prst="roundRect">
            <a:avLst>
              <a:gd name="adj" fmla="val 6557"/>
            </a:avLst>
          </a:prstGeom>
          <a:solidFill>
            <a:srgbClr val="141A26"/>
          </a:solidFill>
          <a:ln w="12700">
            <a:solidFill>
              <a:srgbClr val="232C3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2960" y="3227832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分类规则表   </a:t>
            </a:r>
            <a:pPr indent="0" marL="0">
              <a:buNone/>
            </a:pPr>
            <a:r>
              <a:rPr lang="en-US" sz="1200" dirty="0">
                <a:solidFill>
                  <a:srgbClr val="F5B04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已实现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2960" y="3630168"/>
            <a:ext cx="5257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静态后缀匹配:AI 服务 / 网盘 / 对象存储徽标 —— “谁在往 AI 服务传文件”一眼可见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4379976"/>
            <a:ext cx="5943600" cy="1115568"/>
          </a:xfrm>
          <a:prstGeom prst="roundRect">
            <a:avLst>
              <a:gd name="adj" fmla="val 6557"/>
            </a:avLst>
          </a:prstGeom>
          <a:solidFill>
            <a:srgbClr val="141A26"/>
          </a:solidFill>
          <a:ln w="12700">
            <a:solidFill>
              <a:srgbClr val="232C3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22960" y="4526280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GeoLite2 归属地 / ASN   </a:t>
            </a:r>
            <a:pPr indent="0" marL="0">
              <a:buNone/>
            </a:pPr>
            <a:r>
              <a:rPr lang="en-US" sz="1200" dirty="0">
                <a:solidFill>
                  <a:srgbClr val="394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接入中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2960" y="4928616"/>
            <a:ext cx="5257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只用本地库文件,netwatch 自己不做在线查询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812280" y="1810512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环回代理两跳:告警归因不被代理污染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812280" y="2377440"/>
            <a:ext cx="1481328" cy="868680"/>
          </a:xfrm>
          <a:prstGeom prst="roundRect">
            <a:avLst>
              <a:gd name="adj" fmla="val 8421"/>
            </a:avLst>
          </a:prstGeom>
          <a:solidFill>
            <a:srgbClr val="141A26"/>
          </a:solidFill>
          <a:ln w="12700">
            <a:solidFill>
              <a:srgbClr val="232C3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12280" y="2377440"/>
            <a:ext cx="14813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应用进程
</a:t>
            </a:r>
            <a:pPr algn="ctr" indent="0" marL="0">
              <a:buNone/>
            </a:pPr>
            <a:r>
              <a:rPr lang="en-US" sz="1150" b="1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chrome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275320" y="2670048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94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622792" y="2377440"/>
            <a:ext cx="1481328" cy="868680"/>
          </a:xfrm>
          <a:prstGeom prst="roundRect">
            <a:avLst>
              <a:gd name="adj" fmla="val 8421"/>
            </a:avLst>
          </a:prstGeom>
          <a:solidFill>
            <a:srgbClr val="1A2130"/>
          </a:solidFill>
          <a:ln w="19050">
            <a:solidFill>
              <a:srgbClr val="F5B04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622792" y="2377440"/>
            <a:ext cx="14813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本地代理
</a:t>
            </a:r>
            <a:pPr algn="ctr" indent="0" marL="0">
              <a:buNone/>
            </a:pPr>
            <a:r>
              <a:rPr lang="en-US" sz="1150" b="1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mihomo · 127.0.0.1:7897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0085832" y="2670048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94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0433304" y="2377440"/>
            <a:ext cx="1481328" cy="868680"/>
          </a:xfrm>
          <a:prstGeom prst="roundRect">
            <a:avLst>
              <a:gd name="adj" fmla="val 8421"/>
            </a:avLst>
          </a:prstGeom>
          <a:solidFill>
            <a:srgbClr val="141A26"/>
          </a:solidFill>
          <a:ln w="12700">
            <a:solidFill>
              <a:srgbClr val="232C3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433304" y="2377440"/>
            <a:ext cx="14813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真实远端
</a:t>
            </a:r>
            <a:pPr algn="ctr" indent="0" marL="0">
              <a:buNone/>
            </a:pPr>
            <a:r>
              <a:rPr lang="en-US" sz="1150" b="1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104.20.23.154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812280" y="3520440"/>
            <a:ext cx="4892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应用的 remoteIp 是代理而非真实远端;富化器按字节相关启发式(±25% / ±5s)把两跳关联,transit 代理进程豁免新目的地告警。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812280" y="452628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关联只影响展示与告警标注,</a:t>
            </a:r>
            <a:pPr indent="0" marL="0">
              <a:buNone/>
            </a:pPr>
            <a:r>
              <a:rPr lang="en-US" sz="1250" b="1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不改变底层归因事实。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18872" cy="118872"/>
          </a:xfrm>
          <a:prstGeom prst="ellipse">
            <a:avLst/>
          </a:prstGeom>
          <a:solidFill>
            <a:srgbClr val="F5B04C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27432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netwatch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2194560" y="274320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RULES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1000232" y="638251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943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/ 11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868680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三条规则,盯住“偷偷传”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28800"/>
          <a:ext cx="55778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7490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8EAF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规则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32C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C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C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C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8EAF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触发条件(默认,可配)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32C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C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C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C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5B04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new-destination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32C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C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C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C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A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8EAF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已知进程首次向新公网 IP 上传;当分钟 &gt; 10MB 升 warn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32C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C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C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C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A2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5B04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volume-threshold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32C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C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C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C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A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8EAF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单进程 100MB/10min 或 500MB/h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32C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C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C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C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A2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5B04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unknown-process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32C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C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C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C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A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8EAF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归因不到进程的持续外传:连续 3 窗口且 &gt; 1MB/min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32C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C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C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C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A26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617720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白名单</a:t>
            </a:r>
            <a:pPr indent="0" marL="0">
              <a:buNone/>
            </a:pPr>
            <a:r>
              <a:rPr lang="en-US" sz="130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进程 × 目的 IP 命中即静默(支持 * 进程级);已确认的代理中转进程豁免 new-destination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57200" y="5349240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通知</a:t>
            </a:r>
            <a:pPr indent="0" marL="0">
              <a:buNone/>
            </a:pPr>
            <a:r>
              <a:rPr lang="en-US" sz="130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桌面 notify-send + webhook,告警入库供仪表盘展示;通知失败静默,不影响采集</a:t>
            </a:r>
            <a:endParaRPr lang="en-US" sz="1300" dirty="0"/>
          </a:p>
        </p:txBody>
      </p:sp>
      <p:pic>
        <p:nvPicPr>
          <p:cNvPr id="10" name="Image 0" descr="/tmp/vidbuild/frames/alert/f00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737360"/>
            <a:ext cx="5330952" cy="2999232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pic>
      <p:sp>
        <p:nvSpPr>
          <p:cNvPr id="11" name="Text 7"/>
          <p:cNvSpPr/>
          <p:nvPr/>
        </p:nvSpPr>
        <p:spPr>
          <a:xfrm>
            <a:off x="6400800" y="4892040"/>
            <a:ext cx="5330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94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演示运行 35 分钟(mock 数据源):56 条告警,三条规则全部命中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18872" cy="118872"/>
          </a:xfrm>
          <a:prstGeom prst="ellipse">
            <a:avLst/>
          </a:prstGeom>
          <a:solidFill>
            <a:srgbClr val="F5B04C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27432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netwatch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2194560" y="274320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PRIVACY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1000232" y="638251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943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/ 11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868680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数据与隐私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16916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所有数据</a:t>
            </a:r>
            <a:pPr indent="0" marL="0">
              <a:buNone/>
            </a:pPr>
            <a:r>
              <a:rPr lang="en-US" sz="3400" b="1" dirty="0">
                <a:solidFill>
                  <a:srgbClr val="F5B04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不出这台机器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907792"/>
            <a:ext cx="100584" cy="100584"/>
          </a:xfrm>
          <a:prstGeom prst="ellipse">
            <a:avLst/>
          </a:prstGeom>
          <a:solidFill>
            <a:srgbClr val="F5B04C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2834640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只记录元数据    </a:t>
            </a:r>
            <a:pPr indent="0" marL="0">
              <a:buNone/>
            </a:pPr>
            <a:r>
              <a:rPr lang="en-US" sz="140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IP、端口、域名、字节数、时间 —— 不接触任何传输内容,不做 MITM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502920" y="3877056"/>
            <a:ext cx="100584" cy="100584"/>
          </a:xfrm>
          <a:prstGeom prst="ellipse">
            <a:avLst/>
          </a:prstGeom>
          <a:solidFill>
            <a:srgbClr val="F5B04C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3803904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GeoIP 全部本地库    </a:t>
            </a:r>
            <a:pPr indent="0" marL="0">
              <a:buNone/>
            </a:pPr>
            <a:r>
              <a:rPr lang="en-US" sz="140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本工具监控别人联网,自己不能偷偷联网:归属地 / ASN 走本地文件,域名走本机 DNS 反向解析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502920" y="4846320"/>
            <a:ext cx="100584" cy="100584"/>
          </a:xfrm>
          <a:prstGeom prst="ellipse">
            <a:avLst/>
          </a:prstGeom>
          <a:solidFill>
            <a:srgbClr val="F5B04C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4773168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单个 SQLite 文件    </a:t>
            </a:r>
            <a:pPr indent="0" marL="0">
              <a:buNone/>
            </a:pPr>
            <a:r>
              <a:rPr lang="en-US" sz="140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明细保留 90 天,采集端每小时自动清理;规则配置与数据库都是本机普通文件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457200" y="5715000"/>
            <a:ext cx="11274552" cy="658368"/>
          </a:xfrm>
          <a:prstGeom prst="roundRect">
            <a:avLst>
              <a:gd name="adj" fmla="val 11111"/>
            </a:avLst>
          </a:prstGeom>
          <a:solidFill>
            <a:srgbClr val="0F141F"/>
          </a:solidFill>
          <a:ln w="12700">
            <a:solidFill>
              <a:srgbClr val="232C3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22960" y="571500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数据库  </a:t>
            </a:r>
            <a:pPr indent="0" marL="0">
              <a:buNone/>
            </a:pPr>
            <a:r>
              <a:rPr lang="en-US" sz="1300" dirty="0">
                <a:solidFill>
                  <a:srgbClr val="5AA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~/.local/share/netwatch/netwatch.db</a:t>
            </a:r>
            <a:pPr indent="0" marL="0">
              <a:buNone/>
            </a:pPr>
            <a:r>
              <a:rPr lang="en-US" sz="130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   规则  </a:t>
            </a:r>
            <a:pPr indent="0" marL="0">
              <a:buNone/>
            </a:pPr>
            <a:r>
              <a:rPr lang="en-US" sz="1300" dirty="0">
                <a:solidFill>
                  <a:srgbClr val="5AA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~/.config/netwatch/rules.json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18872" cy="118872"/>
          </a:xfrm>
          <a:prstGeom prst="ellipse">
            <a:avLst/>
          </a:prstGeom>
          <a:solidFill>
            <a:srgbClr val="F5B04C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27432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netwatch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2194560" y="274320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ROADMAP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1000232" y="638251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943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11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868680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平台支持与当前状态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18288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Linux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2377440" y="1847088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0B0E14"/>
          </a:solidFill>
          <a:ln w="12700">
            <a:solidFill>
              <a:srgbClr val="F5B04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77440" y="18470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B04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首发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230428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ss 轮询主路径 + nethogs 交叉验证,eBPF 为后续进阶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30632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macOS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2377440" y="3081528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0B0E14"/>
          </a:solidFill>
          <a:ln w="12700">
            <a:solidFill>
              <a:srgbClr val="8A93A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77440" y="308152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Phase 7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353872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nettop -P -L(系统自带,零依赖)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7200" y="42976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2377440" y="4315968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0B0E14"/>
          </a:solidFill>
          <a:ln w="12700">
            <a:solidFill>
              <a:srgbClr val="8A93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377440" y="431596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Phase 8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" y="477316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ETW;降级为连接轮询(无字节数)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457200" y="557784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94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平台差异全部封在采集适配层(单一 TrafficSource 契约),上层零感知;降级由 capabilities 声明驱动。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400800" y="178308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当前状态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400800" y="233172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B04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903720" y="2350008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Phase 0~4:采集 → 落库 → 查询 → 规则 → 仪表盘,mock 全链路验证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00800" y="3172968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B04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903720" y="3191256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真实采集源(ss 轮询)端到端验证;nethogs 解析器按 0.8.7 校准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00800" y="4014216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AA7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◐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6903720" y="4032504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Phase 5 进行中:两跳富化 · 反向 DNS · 90 天清理 · systemd unit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400800" y="4855464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□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6903720" y="4873752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待办:GeoLite2 接入 · DNS 观察 · root 实机验收(30 分钟稳定性)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18872" cy="118872"/>
          </a:xfrm>
          <a:prstGeom prst="ellipse">
            <a:avLst/>
          </a:prstGeom>
          <a:solidFill>
            <a:srgbClr val="F5B04C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27432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netwatch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2194560" y="274320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QUICK START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1000232" y="638251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943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11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868680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快速体验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11274552" cy="3063240"/>
          </a:xfrm>
          <a:prstGeom prst="roundRect">
            <a:avLst>
              <a:gd name="adj" fmla="val 2388"/>
            </a:avLst>
          </a:prstGeom>
          <a:solidFill>
            <a:srgbClr val="0F141F"/>
          </a:solidFill>
          <a:ln w="12700">
            <a:solidFill>
              <a:srgbClr val="232C3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8680" y="2084832"/>
            <a:ext cx="10515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6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install
</a:t>
            </a:r>
            <a:pPr indent="0" marL="0">
              <a:lnSpc>
                <a:spcPct val="155000"/>
              </a:lnSpc>
              <a:buNone/>
            </a:pPr>
            <a:r>
              <a:rPr lang="en-US" sz="1600" dirty="0">
                <a:solidFill>
                  <a:srgbClr val="F5B0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collector:mock</a:t>
            </a:r>
            <a:pPr indent="0" marL="0">
              <a:lnSpc>
                <a:spcPct val="155000"/>
              </a:lnSpc>
              <a:buNone/>
            </a:pPr>
            <a:r>
              <a:rPr lang="en-US" sz="1600" dirty="0">
                <a:solidFill>
                  <a:srgbClr val="8A93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# 无 root 体验全链路(mock 数据源)
</a:t>
            </a:r>
            <a:pPr indent="0" marL="0">
              <a:lnSpc>
                <a:spcPct val="155000"/>
              </a:lnSpc>
              <a:buNone/>
            </a:pPr>
            <a:r>
              <a:rPr lang="en-US" sz="1600" dirty="0">
                <a:solidFill>
                  <a:srgbClr val="F5B0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web:build &amp;&amp; npm run web</a:t>
            </a:r>
            <a:pPr indent="0" marL="0">
              <a:lnSpc>
                <a:spcPct val="155000"/>
              </a:lnSpc>
              <a:buNone/>
            </a:pPr>
            <a:r>
              <a:rPr lang="en-US" sz="1600" dirty="0">
                <a:solidFill>
                  <a:srgbClr val="8A93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仪表盘 http://127.0.0.1:8787
</a:t>
            </a:r>
            <a:pPr indent="0" marL="0">
              <a:lnSpc>
                <a:spcPct val="155000"/>
              </a:lnSpc>
              <a:buNone/>
            </a:pPr>
            <a:r>
              <a:rPr lang="en-US" sz="1600" dirty="0">
                <a:solidFill>
                  <a:srgbClr val="F5B0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query -- top 24h --by=destination
</a:t>
            </a:r>
            <a:pPr indent="0" marL="0">
              <a:lnSpc>
                <a:spcPct val="155000"/>
              </a:lnSpc>
              <a:buNone/>
            </a:pPr>
            <a:r>
              <a:rPr lang="en-US" sz="1600" dirty="0">
                <a:solidFill>
                  <a:srgbClr val="F5B0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sudo npm run collector</a:t>
            </a:r>
            <a:pPr indent="0" marL="0">
              <a:lnSpc>
                <a:spcPct val="155000"/>
              </a:lnSpc>
              <a:buNone/>
            </a:pPr>
            <a:r>
              <a:rPr lang="en-US" sz="1600" dirty="0">
                <a:solidFill>
                  <a:srgbClr val="8A93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# 真实采集(Linux 主路径:ss 轮询,需 root)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580644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  </a:t>
            </a:r>
            <a:pPr indent="0" marL="0">
              <a:buNone/>
            </a:pPr>
            <a:r>
              <a:rPr lang="en-US" sz="1300" dirty="0">
                <a:solidFill>
                  <a:srgbClr val="5AA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docs/intro.md · docs/design.md · docs/plan.md</a:t>
            </a:r>
            <a:pPr indent="0" marL="0">
              <a:buNone/>
            </a:pPr>
            <a:r>
              <a:rPr lang="en-US" sz="130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   部署  </a:t>
            </a:r>
            <a:pPr indent="0" marL="0">
              <a:buNone/>
            </a:pPr>
            <a:r>
              <a:rPr lang="en-US" sz="1300" dirty="0">
                <a:solidFill>
                  <a:srgbClr val="5AA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deploy/*.service(systemd 双 unit)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netwatch — 进程级上传监控仪表盘</dc:title>
  <dc:subject>PptxGenJS Presentation</dc:subject>
  <dc:creator>netwatch</dc:creator>
  <cp:lastModifiedBy>netwatch</cp:lastModifiedBy>
  <cp:revision>1</cp:revision>
  <dcterms:created xsi:type="dcterms:W3CDTF">2026-10-04T18:01:05Z</dcterms:created>
  <dcterms:modified xsi:type="dcterms:W3CDTF">2026-10-04T18:01:05Z</dcterms:modified>
</cp:coreProperties>
</file>